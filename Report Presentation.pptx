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6858000" cy="9144000"/>
  <p:embeddedFontLst>
    <p:embeddedFont>
      <p:font typeface="Economica" panose="02000506040000020004" pitchFamily="2" charset="77"/>
      <p:regular r:id="rId27"/>
      <p:bold r:id="rId28"/>
      <p:italic r:id="rId29"/>
      <p:boldItalic r:id="rId30"/>
    </p:embeddedFont>
    <p:embeddedFont>
      <p:font typeface="Merriweather" pitchFamily="2" charset="77"/>
      <p:regular r:id="rId31"/>
      <p:bold r:id="rId32"/>
    </p:embeddedFont>
    <p:embeddedFont>
      <p:font typeface="Open Sans" panose="020B0606030504020204" pitchFamily="34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60" d="100"/>
          <a:sy n="160" d="100"/>
        </p:scale>
        <p:origin x="78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f25867ae0_1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df25867ae0_1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f25867ae0_1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df25867ae0_1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df25867ae0_2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df25867ae0_2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f25867ae0_1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df25867ae0_1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f25867ae0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df25867ae0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ddde9ea20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ddde9ea20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f25867ae0_1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df25867ae0_1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df25867ae0_1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df25867ae0_1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df25867ae0_1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df25867ae0_1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dde9ea20a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ddde9ea20a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df25867ae0_1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df25867ae0_1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df25867ae0_1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df25867ae0_1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df25867ae0_1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df25867ae0_1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df25867ae0_1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df25867ae0_1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df25867ae0_1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df25867ae0_1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df25867ae0_1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df25867ae0_1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df25867ae0_1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df25867ae0_1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df25867ae0_1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df25867ae0_1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df25867ae0_1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df25867ae0_1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e7a943e1c0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e7a943e1c0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df77bff426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df77bff426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df25867ae0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df25867ae0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df25867ae0_2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df25867ae0_2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7" name="Google Shape;17;p3"/>
          <p:cNvSpPr/>
          <p:nvPr/>
        </p:nvSpPr>
        <p:spPr>
          <a:xfrm rot="10800000" flipH="1">
            <a:off x="466425" y="35583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endParaRPr/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DANNY DINNER</a:t>
            </a:r>
            <a:endParaRPr b="1"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PRESENTED </a:t>
            </a:r>
            <a:r>
              <a:rPr lang="en"/>
              <a:t>BY 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Nguyen Ba Tin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INTRODUCTION</a:t>
            </a:r>
            <a:endParaRPr b="1"/>
          </a:p>
        </p:txBody>
      </p:sp>
      <p:sp>
        <p:nvSpPr>
          <p:cNvPr id="69" name="Google Shape;69;p1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just" rtl="0">
              <a:lnSpc>
                <a:spcPct val="16703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Danny loves Japanese food so in the beginning of 2021, he decides to open up a cute little restaurant that sells his 3 favourite foods: </a:t>
            </a:r>
            <a:r>
              <a:rPr lang="en" b="1">
                <a:solidFill>
                  <a:schemeClr val="dk1"/>
                </a:solidFill>
              </a:rPr>
              <a:t>sushi, curry and ramen.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670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restaurant has captured </a:t>
            </a:r>
            <a:r>
              <a:rPr lang="en" b="1">
                <a:solidFill>
                  <a:schemeClr val="dk1"/>
                </a:solidFill>
              </a:rPr>
              <a:t>some very basic data</a:t>
            </a:r>
            <a:r>
              <a:rPr lang="en">
                <a:solidFill>
                  <a:schemeClr val="dk1"/>
                </a:solidFill>
              </a:rPr>
              <a:t> from their first months of operation but </a:t>
            </a:r>
            <a:r>
              <a:rPr lang="en" b="1">
                <a:solidFill>
                  <a:schemeClr val="dk1"/>
                </a:solidFill>
              </a:rPr>
              <a:t>they have no idea how to use their data </a:t>
            </a:r>
            <a:r>
              <a:rPr lang="en">
                <a:solidFill>
                  <a:schemeClr val="dk1"/>
                </a:solidFill>
              </a:rPr>
              <a:t>to help them run the business.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6703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PROBLEM STATEMENT</a:t>
            </a:r>
            <a:endParaRPr b="1"/>
          </a:p>
        </p:txBody>
      </p:sp>
      <p:sp>
        <p:nvSpPr>
          <p:cNvPr id="75" name="Google Shape;75;p1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Danny wants to use the data to answer a few simple questions such as their visiting patterns, how much money they’ve spent and also which menu items are their favourite.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He plans on using these insights to help him decide whether he should expand the existing customer loyalty program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About Dataset</a:t>
            </a:r>
            <a:endParaRPr/>
          </a:p>
        </p:txBody>
      </p:sp>
      <p:sp>
        <p:nvSpPr>
          <p:cNvPr id="81" name="Google Shape;81;p16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82" name="Google Shape;8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225225"/>
            <a:ext cx="2756600" cy="33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00450" y="1238250"/>
            <a:ext cx="2682400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25625" y="1238250"/>
            <a:ext cx="2606675" cy="103822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6"/>
          <p:cNvSpPr txBox="1"/>
          <p:nvPr/>
        </p:nvSpPr>
        <p:spPr>
          <a:xfrm>
            <a:off x="719125" y="4616150"/>
            <a:ext cx="1629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Table 1: Sales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6" name="Google Shape;86;p16"/>
          <p:cNvSpPr txBox="1"/>
          <p:nvPr/>
        </p:nvSpPr>
        <p:spPr>
          <a:xfrm>
            <a:off x="3581950" y="4616150"/>
            <a:ext cx="1705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Table 2: Menu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7" name="Google Shape;87;p16"/>
          <p:cNvSpPr txBox="1"/>
          <p:nvPr/>
        </p:nvSpPr>
        <p:spPr>
          <a:xfrm>
            <a:off x="6383125" y="4616150"/>
            <a:ext cx="2335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Table 3: Members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SALE PERFORMANCE</a:t>
            </a:r>
            <a:endParaRPr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/>
              <a:t>Q1, Q2:</a:t>
            </a:r>
            <a:r>
              <a:rPr lang="en" sz="1800" b="1">
                <a:solidFill>
                  <a:srgbClr val="404040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" sz="1800" b="1">
                <a:solidFill>
                  <a:srgbClr val="404040"/>
                </a:solidFill>
                <a:highlight>
                  <a:schemeClr val="lt1"/>
                </a:highlight>
              </a:rPr>
              <a:t>What is the total amount each customer spent at the restaurant? and How many days has each customer visited the restaurant? </a:t>
            </a:r>
            <a:endParaRPr sz="1800" b="1"/>
          </a:p>
        </p:txBody>
      </p:sp>
      <p:sp>
        <p:nvSpPr>
          <p:cNvPr id="98" name="Google Shape;98;p18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-- 1</a:t>
            </a:r>
            <a:endParaRPr sz="8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SELECT s.customer_id, </a:t>
            </a:r>
            <a:endParaRPr sz="8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SUM(m.price) AS total_spent</a:t>
            </a:r>
            <a:endParaRPr sz="8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 sales s  </a:t>
            </a:r>
            <a:endParaRPr sz="8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JOIN menu m  </a:t>
            </a:r>
            <a:endParaRPr sz="8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ON s.product_id = m.product_id</a:t>
            </a:r>
            <a:endParaRPr sz="8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GROUP BY s.customer_id;</a:t>
            </a:r>
            <a:endParaRPr sz="8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50">
              <a:solidFill>
                <a:srgbClr val="BBBEB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-- 2</a:t>
            </a:r>
            <a:endParaRPr sz="85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SELECT s.customer_id, </a:t>
            </a:r>
            <a:endParaRPr sz="85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COUNT(DISTINCT s.order_date) AS visit_days</a:t>
            </a:r>
            <a:endParaRPr sz="85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FROM sales s  </a:t>
            </a:r>
            <a:endParaRPr sz="85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GROUP BY s.customer_id;</a:t>
            </a:r>
            <a:endParaRPr sz="85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50">
              <a:solidFill>
                <a:srgbClr val="BBBEB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50">
              <a:solidFill>
                <a:srgbClr val="BBBEB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850">
              <a:solidFill>
                <a:srgbClr val="BBBEB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99" name="Google Shape;9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4600" y="1399625"/>
            <a:ext cx="3027450" cy="1086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4600" y="2729375"/>
            <a:ext cx="3027450" cy="108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1750" y="1542249"/>
            <a:ext cx="4570550" cy="2636876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9"/>
          <p:cNvSpPr/>
          <p:nvPr/>
        </p:nvSpPr>
        <p:spPr>
          <a:xfrm>
            <a:off x="311700" y="1590775"/>
            <a:ext cx="3498600" cy="253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</a:rPr>
              <a:t>Customer A:</a:t>
            </a:r>
            <a:r>
              <a:rPr lang="en" sz="1000">
                <a:solidFill>
                  <a:schemeClr val="dk1"/>
                </a:solidFill>
              </a:rPr>
              <a:t> Highest spender (</a:t>
            </a:r>
            <a:r>
              <a:rPr lang="en" sz="1000" b="1">
                <a:solidFill>
                  <a:schemeClr val="dk1"/>
                </a:solidFill>
              </a:rPr>
              <a:t>$76</a:t>
            </a:r>
            <a:r>
              <a:rPr lang="en" sz="1000">
                <a:solidFill>
                  <a:schemeClr val="dk1"/>
                </a:solidFill>
              </a:rPr>
              <a:t>).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</a:rPr>
              <a:t>Customer B:</a:t>
            </a:r>
            <a:r>
              <a:rPr lang="en" sz="1000">
                <a:solidFill>
                  <a:schemeClr val="dk1"/>
                </a:solidFill>
              </a:rPr>
              <a:t> Most frequent visitor (</a:t>
            </a:r>
            <a:r>
              <a:rPr lang="en" sz="1000" b="1">
                <a:solidFill>
                  <a:schemeClr val="dk1"/>
                </a:solidFill>
              </a:rPr>
              <a:t>6 times</a:t>
            </a:r>
            <a:r>
              <a:rPr lang="en" sz="1000">
                <a:solidFill>
                  <a:schemeClr val="dk1"/>
                </a:solidFill>
              </a:rPr>
              <a:t>).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</a:rPr>
              <a:t>Customer C:</a:t>
            </a:r>
            <a:r>
              <a:rPr lang="en" sz="1000">
                <a:solidFill>
                  <a:schemeClr val="dk1"/>
                </a:solidFill>
              </a:rPr>
              <a:t> Lowest spender ($36), still in the "trial" stage.</a:t>
            </a:r>
            <a:endParaRPr sz="10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404040"/>
                </a:solidFill>
                <a:highlight>
                  <a:schemeClr val="lt1"/>
                </a:highlight>
              </a:rPr>
              <a:t>Q3.</a:t>
            </a:r>
            <a:r>
              <a:rPr lang="en" sz="1800" b="1">
                <a:solidFill>
                  <a:srgbClr val="404040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" sz="1800" b="1">
                <a:solidFill>
                  <a:srgbClr val="404040"/>
                </a:solidFill>
                <a:highlight>
                  <a:schemeClr val="lt1"/>
                </a:highlight>
              </a:rPr>
              <a:t>What was the first item from the menu purchased by each customer?</a:t>
            </a:r>
            <a:endParaRPr sz="1800" b="1"/>
          </a:p>
        </p:txBody>
      </p:sp>
      <p:sp>
        <p:nvSpPr>
          <p:cNvPr id="112" name="Google Shape;112;p20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-- 3</a:t>
            </a:r>
            <a:endParaRPr sz="8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SELECT DISTINCT s.customer_id, m.product_name</a:t>
            </a:r>
            <a:endParaRPr sz="8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FROM sales s  </a:t>
            </a:r>
            <a:endParaRPr sz="8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JOIN menu m</a:t>
            </a:r>
            <a:endParaRPr sz="8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ON s.product_id = m.product_id</a:t>
            </a:r>
            <a:endParaRPr sz="8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WHERE s.order_date =</a:t>
            </a:r>
            <a:endParaRPr sz="8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(SELECT MIN(s2.order_date)</a:t>
            </a:r>
            <a:endParaRPr sz="8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FROM sales s2</a:t>
            </a:r>
            <a:endParaRPr sz="8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WHERE s2.customer_id = s.customer_id);</a:t>
            </a:r>
            <a:endParaRPr sz="8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13" name="Google Shape;11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80925" y="1152475"/>
            <a:ext cx="3352125" cy="138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28375" y="2614550"/>
            <a:ext cx="3503925" cy="152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0"/>
          <p:cNvSpPr/>
          <p:nvPr/>
        </p:nvSpPr>
        <p:spPr>
          <a:xfrm>
            <a:off x="311700" y="2969725"/>
            <a:ext cx="4351200" cy="11211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Curry is the first item that attracts customers when they come to the restaurant followed by Ramen and Sushi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404040"/>
                </a:solidFill>
                <a:highlight>
                  <a:schemeClr val="lt1"/>
                </a:highlight>
              </a:rPr>
              <a:t>Q4.</a:t>
            </a:r>
            <a:r>
              <a:rPr lang="en" sz="1800" b="1">
                <a:solidFill>
                  <a:srgbClr val="404040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" sz="1800" b="1">
                <a:solidFill>
                  <a:srgbClr val="404040"/>
                </a:solidFill>
                <a:highlight>
                  <a:schemeClr val="lt1"/>
                </a:highlight>
              </a:rPr>
              <a:t>What is the most purchased item on the menu and how many times was it purchased by all customers?</a:t>
            </a:r>
            <a:endParaRPr sz="1800" b="1"/>
          </a:p>
        </p:txBody>
      </p:sp>
      <p:sp>
        <p:nvSpPr>
          <p:cNvPr id="121" name="Google Shape;121;p21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-- 4</a:t>
            </a:r>
            <a:endParaRPr sz="8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SELECT TOP 1</a:t>
            </a:r>
            <a:endParaRPr sz="8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m.product_name, COUNT(s.product_id) AS total_orders</a:t>
            </a:r>
            <a:endParaRPr sz="8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FROM sales s</a:t>
            </a:r>
            <a:endParaRPr sz="8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JOIN menu m</a:t>
            </a:r>
            <a:endParaRPr sz="8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ON s.product_id = m.product_id</a:t>
            </a:r>
            <a:endParaRPr sz="8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GROUP BY m.product_name</a:t>
            </a:r>
            <a:endParaRPr sz="8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ORDER BY total_orders DESC;</a:t>
            </a:r>
            <a:endParaRPr sz="8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1000"/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8923" y="1400309"/>
            <a:ext cx="3103375" cy="63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72250" y="2106775"/>
            <a:ext cx="1141575" cy="63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48100" y="2106775"/>
            <a:ext cx="2584199" cy="166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1"/>
          <p:cNvSpPr/>
          <p:nvPr/>
        </p:nvSpPr>
        <p:spPr>
          <a:xfrm>
            <a:off x="311700" y="2969725"/>
            <a:ext cx="4260300" cy="11211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Ramen is the most popular dish in the restaurant, and the primary reason customers return.</a:t>
            </a:r>
            <a:endParaRPr sz="10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0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404040"/>
                </a:solidFill>
                <a:highlight>
                  <a:schemeClr val="lt1"/>
                </a:highlight>
              </a:rPr>
              <a:t>Q5.</a:t>
            </a:r>
            <a:r>
              <a:rPr lang="en" sz="1800" b="1">
                <a:solidFill>
                  <a:srgbClr val="404040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" sz="1800" b="1">
                <a:solidFill>
                  <a:srgbClr val="404040"/>
                </a:solidFill>
                <a:highlight>
                  <a:schemeClr val="lt1"/>
                </a:highlight>
              </a:rPr>
              <a:t>Which item was the most popular for each customer?</a:t>
            </a:r>
            <a:endParaRPr sz="1800" b="1"/>
          </a:p>
        </p:txBody>
      </p:sp>
      <p:sp>
        <p:nvSpPr>
          <p:cNvPr id="131" name="Google Shape;131;p22"/>
          <p:cNvSpPr txBox="1">
            <a:spLocks noGrp="1"/>
          </p:cNvSpPr>
          <p:nvPr>
            <p:ph type="body" idx="1"/>
          </p:nvPr>
        </p:nvSpPr>
        <p:spPr>
          <a:xfrm>
            <a:off x="311700" y="1166842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--5</a:t>
            </a:r>
            <a:endParaRPr sz="85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with freqrank as (</a:t>
            </a:r>
            <a:endParaRPr sz="85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Select </a:t>
            </a:r>
            <a:endParaRPr sz="85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s.customer_id, s.product_id, </a:t>
            </a:r>
            <a:endParaRPr sz="85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count(s.product_id) as purchase_frequency,</a:t>
            </a:r>
            <a:endParaRPr sz="85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dense_rank() over  </a:t>
            </a:r>
            <a:endParaRPr sz="85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(partition by s.customer_id order by count(s.customer_id) desc) as rnk</a:t>
            </a:r>
            <a:endParaRPr sz="85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from sales s</a:t>
            </a:r>
            <a:endParaRPr sz="85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group by s.customer_id, s.product_id)</a:t>
            </a:r>
            <a:endParaRPr sz="85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endParaRPr sz="85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f.customer_id,</a:t>
            </a:r>
            <a:endParaRPr sz="85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m.product_name,</a:t>
            </a:r>
            <a:endParaRPr sz="85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f.purchase_frequency</a:t>
            </a:r>
            <a:endParaRPr sz="85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from freqrank f</a:t>
            </a:r>
            <a:endParaRPr sz="85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join menu m on f.product_id = m.product_id</a:t>
            </a:r>
            <a:endParaRPr sz="85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where f.rnk = 1</a:t>
            </a:r>
            <a:endParaRPr sz="85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order by f.customer_id;</a:t>
            </a:r>
            <a:endParaRPr sz="85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32" name="Google Shape;13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15175" y="1179025"/>
            <a:ext cx="3317124" cy="117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15175" y="2433624"/>
            <a:ext cx="3317125" cy="2030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2"/>
          <p:cNvSpPr/>
          <p:nvPr/>
        </p:nvSpPr>
        <p:spPr>
          <a:xfrm>
            <a:off x="311700" y="4096500"/>
            <a:ext cx="4260300" cy="49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A &amp; C stay loyal to Ramen only, while B explores the entire menu.</a:t>
            </a:r>
            <a:endParaRPr sz="10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3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" sz="2000" b="1" i="1">
                <a:highlight>
                  <a:schemeClr val="lt1"/>
                </a:highlight>
              </a:rPr>
              <a:t>Key Insights</a:t>
            </a:r>
            <a:endParaRPr sz="2000" b="1" i="1"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endParaRPr sz="900">
              <a:solidFill>
                <a:srgbClr val="8B949E"/>
              </a:solidFill>
              <a:highlight>
                <a:srgbClr val="12131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619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0" name="Google Shape;14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8455" y="1531600"/>
            <a:ext cx="3763850" cy="2559051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3"/>
          <p:cNvSpPr/>
          <p:nvPr/>
        </p:nvSpPr>
        <p:spPr>
          <a:xfrm>
            <a:off x="311700" y="1590775"/>
            <a:ext cx="3498600" cy="253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 &amp; C stay loyal to Ramen only, while B explores the entire menu.</a:t>
            </a:r>
            <a:endParaRPr sz="1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2450" y="695325"/>
            <a:ext cx="5782424" cy="359382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4"/>
          <p:cNvSpPr/>
          <p:nvPr/>
        </p:nvSpPr>
        <p:spPr>
          <a:xfrm>
            <a:off x="311700" y="1301850"/>
            <a:ext cx="2716500" cy="253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Consider having different strategies for each customer group: A is the "Big Spender," B is the "Loyal Visitor."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Consider using “Curry”  visuals in new customer acquisition ads.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Ramen is a best-seller, so ensuring consistent ramen quality is crucial, as it can become the signature dish that defines the brand.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5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CUSTOMER LOYALTY BEHAVIOR</a:t>
            </a:r>
            <a:endParaRPr b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404040"/>
                </a:solidFill>
                <a:highlight>
                  <a:schemeClr val="lt1"/>
                </a:highlight>
              </a:rPr>
              <a:t>Q6.</a:t>
            </a:r>
            <a:r>
              <a:rPr lang="en" sz="1800" b="1">
                <a:solidFill>
                  <a:srgbClr val="404040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" sz="1800" b="1">
                <a:solidFill>
                  <a:srgbClr val="404040"/>
                </a:solidFill>
                <a:highlight>
                  <a:schemeClr val="lt1"/>
                </a:highlight>
              </a:rPr>
              <a:t>Which item was purchased first by the customer after they became a member?</a:t>
            </a:r>
            <a:endParaRPr sz="1800" b="1"/>
          </a:p>
        </p:txBody>
      </p:sp>
      <p:sp>
        <p:nvSpPr>
          <p:cNvPr id="158" name="Google Shape;158;p26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-- 6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with orders as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Select s.customer_id, m.product_name, s.order_date, mb.join_date,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dense_rank() over 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(partition by s.customer_id order by s.order_date) as rnk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from menu m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join sales s on m.product_id = s.product_id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join members mb on s.customer_id = mb.customer_id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where s.order_date &gt; mb.join_date)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select customer_id, product_name, order_date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from orders o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where rnk = 1;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5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59" name="Google Shape;15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0125" y="1351000"/>
            <a:ext cx="3422176" cy="74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63575" y="2240325"/>
            <a:ext cx="3268726" cy="1856175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6"/>
          <p:cNvSpPr/>
          <p:nvPr/>
        </p:nvSpPr>
        <p:spPr>
          <a:xfrm>
            <a:off x="311700" y="3822100"/>
            <a:ext cx="4339500" cy="677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Ramen and sushi are the first dishes customers choose after joining the membership.</a:t>
            </a:r>
            <a:endParaRPr sz="1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7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404040"/>
                </a:solidFill>
                <a:highlight>
                  <a:schemeClr val="lt1"/>
                </a:highlight>
              </a:rPr>
              <a:t>Q7.</a:t>
            </a:r>
            <a:r>
              <a:rPr lang="en" sz="1800" b="1">
                <a:solidFill>
                  <a:srgbClr val="404040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" sz="1800" b="1">
                <a:solidFill>
                  <a:srgbClr val="404040"/>
                </a:solidFill>
                <a:highlight>
                  <a:schemeClr val="lt1"/>
                </a:highlight>
              </a:rPr>
              <a:t>Which item was purchased just before the customer became a member?</a:t>
            </a:r>
            <a:endParaRPr sz="1800" b="1"/>
          </a:p>
        </p:txBody>
      </p:sp>
      <p:sp>
        <p:nvSpPr>
          <p:cNvPr id="167" name="Google Shape;167;p27"/>
          <p:cNvSpPr txBox="1">
            <a:spLocks noGrp="1"/>
          </p:cNvSpPr>
          <p:nvPr>
            <p:ph type="body" idx="1"/>
          </p:nvPr>
        </p:nvSpPr>
        <p:spPr>
          <a:xfrm>
            <a:off x="224125" y="122835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-- 7</a:t>
            </a:r>
            <a:endParaRPr sz="8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with orders as</a:t>
            </a:r>
            <a:endParaRPr sz="8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sz="8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Select s.customer_id, m.product_name, s.order_date, mb.join_date,</a:t>
            </a:r>
            <a:endParaRPr sz="8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dense_rank() over</a:t>
            </a:r>
            <a:endParaRPr sz="8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(partition by s.customer_id order by s.order_date desc) as rnk</a:t>
            </a:r>
            <a:endParaRPr sz="8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from menu m</a:t>
            </a:r>
            <a:endParaRPr sz="8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join sales s on m.product_id = s.product_id</a:t>
            </a:r>
            <a:endParaRPr sz="8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join members mb on s.customer_id = mb.customer_id</a:t>
            </a:r>
            <a:endParaRPr sz="8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where s.order_date &lt; mb.join_date</a:t>
            </a:r>
            <a:endParaRPr sz="8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8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select customer_id, product_name, order_date</a:t>
            </a:r>
            <a:endParaRPr sz="8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from orders o</a:t>
            </a:r>
            <a:endParaRPr sz="8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where rnk = 1;</a:t>
            </a:r>
            <a:endParaRPr sz="8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68" name="Google Shape;16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7900" y="1831257"/>
            <a:ext cx="3398051" cy="100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26222" y="2973307"/>
            <a:ext cx="3554799" cy="152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7"/>
          <p:cNvSpPr/>
          <p:nvPr/>
        </p:nvSpPr>
        <p:spPr>
          <a:xfrm>
            <a:off x="311700" y="3722150"/>
            <a:ext cx="4339500" cy="777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Sushi and Curry are the last items purchased before joining the membership</a:t>
            </a:r>
            <a:endParaRPr sz="1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8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404040"/>
                </a:solidFill>
                <a:highlight>
                  <a:schemeClr val="lt1"/>
                </a:highlight>
              </a:rPr>
              <a:t>Q8.</a:t>
            </a:r>
            <a:r>
              <a:rPr lang="en" sz="1800" b="1">
                <a:solidFill>
                  <a:srgbClr val="404040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" sz="1800" b="1">
                <a:solidFill>
                  <a:srgbClr val="404040"/>
                </a:solidFill>
                <a:highlight>
                  <a:schemeClr val="lt1"/>
                </a:highlight>
              </a:rPr>
              <a:t>What is the total items and amount spent for each member before they became a member?</a:t>
            </a:r>
            <a:endParaRPr sz="1800" b="1"/>
          </a:p>
        </p:txBody>
      </p:sp>
      <p:sp>
        <p:nvSpPr>
          <p:cNvPr id="176" name="Google Shape;176;p28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-- 8</a:t>
            </a:r>
            <a:endParaRPr sz="8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select s.customer_id,</a:t>
            </a:r>
            <a:endParaRPr sz="8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count(s.product_id) as total_items,</a:t>
            </a:r>
            <a:endParaRPr sz="8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sum(m.price) as total_spent</a:t>
            </a:r>
            <a:endParaRPr sz="8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from menu m</a:t>
            </a:r>
            <a:endParaRPr sz="8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join sales s on m.product_id = s.product_id</a:t>
            </a:r>
            <a:endParaRPr sz="8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join members mb on s.customer_id = mb.customer_id</a:t>
            </a:r>
            <a:endParaRPr sz="8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where s.order_date &lt; mb.join_date</a:t>
            </a:r>
            <a:endParaRPr sz="8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group by s.customer_id;</a:t>
            </a:r>
            <a:endParaRPr sz="8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77" name="Google Shape;17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3975" y="1317500"/>
            <a:ext cx="3778324" cy="68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18050" y="2158200"/>
            <a:ext cx="2914249" cy="193262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8"/>
          <p:cNvSpPr/>
          <p:nvPr/>
        </p:nvSpPr>
        <p:spPr>
          <a:xfrm>
            <a:off x="311700" y="2969725"/>
            <a:ext cx="4260300" cy="11211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Customer B spends more ($40 vs $25) and buys more items (3 vs 2 items) than Customer A before becoming a member.</a:t>
            </a: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Customers show higher engagement (Revenue increase) after joining the membership program </a:t>
            </a:r>
            <a:endParaRPr sz="1000"/>
          </a:p>
        </p:txBody>
      </p:sp>
      <p:pic>
        <p:nvPicPr>
          <p:cNvPr id="180" name="Google Shape;180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97413" y="2158200"/>
            <a:ext cx="1188624" cy="1173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9"/>
          <p:cNvSpPr/>
          <p:nvPr/>
        </p:nvSpPr>
        <p:spPr>
          <a:xfrm>
            <a:off x="311700" y="1301850"/>
            <a:ext cx="2716500" cy="253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Customers tend to spend more and return more when they joining membership program 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=&gt; Continue to maintain and develop membership programs to trigger new customers and retain existing customers.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000">
              <a:solidFill>
                <a:schemeClr val="dk1"/>
              </a:solidFill>
            </a:endParaRPr>
          </a:p>
        </p:txBody>
      </p:sp>
      <p:pic>
        <p:nvPicPr>
          <p:cNvPr id="186" name="Google Shape;18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7450" y="693475"/>
            <a:ext cx="5811000" cy="32176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REWARDS &amp; POINTS</a:t>
            </a:r>
            <a:endParaRPr b="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1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>
                <a:solidFill>
                  <a:srgbClr val="404040"/>
                </a:solidFill>
                <a:highlight>
                  <a:schemeClr val="lt1"/>
                </a:highlight>
              </a:rPr>
              <a:t>Q9.</a:t>
            </a:r>
            <a:r>
              <a:rPr lang="en" sz="1800" b="1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" sz="1800" b="1">
                <a:solidFill>
                  <a:srgbClr val="404040"/>
                </a:solidFill>
                <a:highlight>
                  <a:srgbClr val="FFFFFF"/>
                </a:highlight>
              </a:rPr>
              <a:t>If each $1 spent equates to 10 points and sushi has a 2x points multiplier - how many points would each customer have?</a:t>
            </a:r>
            <a:endParaRPr sz="1800" b="1">
              <a:solidFill>
                <a:srgbClr val="404040"/>
              </a:solidFill>
              <a:highlight>
                <a:schemeClr val="lt1"/>
              </a:highlight>
            </a:endParaRPr>
          </a:p>
        </p:txBody>
      </p:sp>
      <p:sp>
        <p:nvSpPr>
          <p:cNvPr id="197" name="Google Shape;197;p31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-- 9</a:t>
            </a:r>
            <a:endParaRPr sz="8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with customer_points as</a:t>
            </a:r>
            <a:endParaRPr sz="8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 select s.customer_id, case</a:t>
            </a:r>
            <a:endParaRPr sz="8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when m.product_name = 'sushi' then m.price*20</a:t>
            </a:r>
            <a:endParaRPr sz="8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else m.price*10</a:t>
            </a:r>
            <a:endParaRPr sz="8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end as points</a:t>
            </a:r>
            <a:endParaRPr sz="8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from sales s</a:t>
            </a:r>
            <a:endParaRPr sz="8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join menu m on m.product_id = s.product_id</a:t>
            </a:r>
            <a:endParaRPr sz="8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8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select cp.customer_id,</a:t>
            </a:r>
            <a:endParaRPr sz="8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sum(points) as total_points from customer_points cp</a:t>
            </a:r>
            <a:endParaRPr sz="8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GROUP  by cp.customer_id;</a:t>
            </a:r>
            <a:endParaRPr sz="8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8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8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pic>
        <p:nvPicPr>
          <p:cNvPr id="198" name="Google Shape;19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38550" y="1238825"/>
            <a:ext cx="3293750" cy="1070475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31"/>
          <p:cNvSpPr/>
          <p:nvPr/>
        </p:nvSpPr>
        <p:spPr>
          <a:xfrm>
            <a:off x="311700" y="3447775"/>
            <a:ext cx="4536300" cy="11211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Customer B leads in points thanks to their strategy of eating sushi (the only dish that earns double points).</a:t>
            </a:r>
            <a:endParaRPr sz="1000"/>
          </a:p>
        </p:txBody>
      </p:sp>
      <p:pic>
        <p:nvPicPr>
          <p:cNvPr id="200" name="Google Shape;200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71425" y="2490975"/>
            <a:ext cx="3660874" cy="207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2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>
                <a:solidFill>
                  <a:srgbClr val="404040"/>
                </a:solidFill>
                <a:highlight>
                  <a:schemeClr val="lt1"/>
                </a:highlight>
              </a:rPr>
              <a:t>Q10. </a:t>
            </a:r>
            <a:r>
              <a:rPr lang="en" sz="1800" b="1">
                <a:solidFill>
                  <a:srgbClr val="404040"/>
                </a:solidFill>
                <a:highlight>
                  <a:srgbClr val="FFFFFF"/>
                </a:highlight>
              </a:rPr>
              <a:t>In the first week after a customer joins the program (including their join date) they earn 2x points on all items, not just sushi - how many points do customer A and B have at the end of January?</a:t>
            </a:r>
            <a:endParaRPr sz="1800" b="1"/>
          </a:p>
        </p:txBody>
      </p:sp>
      <p:sp>
        <p:nvSpPr>
          <p:cNvPr id="206" name="Google Shape;206;p32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-- 10</a:t>
            </a:r>
            <a:endParaRPr sz="8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with customer_point_january AS</a:t>
            </a:r>
            <a:endParaRPr sz="8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sz="8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select s.customer_id, m.product_name, m.price, s.order_date, mb.join_date,</a:t>
            </a:r>
            <a:endParaRPr sz="8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case</a:t>
            </a:r>
            <a:endParaRPr sz="8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when s.order_date between mb.join_date and DATEADD(day,7, mb.join_date) then m.price*20</a:t>
            </a:r>
            <a:endParaRPr sz="8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when m.product_name ='sushi' then m.price*20</a:t>
            </a:r>
            <a:endParaRPr sz="8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else m.price*10</a:t>
            </a:r>
            <a:endParaRPr sz="8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end as points</a:t>
            </a:r>
            <a:endParaRPr sz="8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from menu m</a:t>
            </a:r>
            <a:endParaRPr sz="8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join sales s</a:t>
            </a:r>
            <a:endParaRPr sz="8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on m.product_id = s.product_id</a:t>
            </a:r>
            <a:endParaRPr sz="8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join members mb</a:t>
            </a:r>
            <a:endParaRPr sz="8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on s.customer_id = mb.customer_id</a:t>
            </a:r>
            <a:endParaRPr sz="8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where s.order_date &lt; '2021-02-01'</a:t>
            </a:r>
            <a:endParaRPr sz="8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8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select customer_id, </a:t>
            </a:r>
            <a:endParaRPr sz="8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SUM(points) as total_points from customer_point_january</a:t>
            </a:r>
            <a:endParaRPr sz="8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group by customer_id;</a:t>
            </a:r>
            <a:endParaRPr sz="8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8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pic>
        <p:nvPicPr>
          <p:cNvPr id="207" name="Google Shape;20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6124" y="2648624"/>
            <a:ext cx="3496175" cy="94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3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33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14" name="Google Shape;21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4800" y="1590775"/>
            <a:ext cx="3771401" cy="261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33"/>
          <p:cNvSpPr/>
          <p:nvPr/>
        </p:nvSpPr>
        <p:spPr>
          <a:xfrm>
            <a:off x="311700" y="1590775"/>
            <a:ext cx="3498600" cy="253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Customer A takes advantage of “First Week” increasing their total points by 60% in just a few days. </a:t>
            </a:r>
            <a:endParaRPr sz="1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4"/>
          <p:cNvSpPr/>
          <p:nvPr/>
        </p:nvSpPr>
        <p:spPr>
          <a:xfrm>
            <a:off x="311700" y="671200"/>
            <a:ext cx="2716500" cy="3170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chemeClr val="dk1"/>
                </a:solidFill>
              </a:rPr>
              <a:t>Monthly Performance:</a:t>
            </a:r>
            <a:r>
              <a:rPr lang="en" sz="1100">
                <a:solidFill>
                  <a:schemeClr val="dk1"/>
                </a:solidFill>
              </a:rPr>
              <a:t> As of </a:t>
            </a:r>
            <a:r>
              <a:rPr lang="en" sz="1100" b="1">
                <a:solidFill>
                  <a:schemeClr val="dk1"/>
                </a:solidFill>
              </a:rPr>
              <a:t>January 31st, 2021</a:t>
            </a:r>
            <a:r>
              <a:rPr lang="en" sz="1100">
                <a:solidFill>
                  <a:schemeClr val="dk1"/>
                </a:solidFill>
              </a:rPr>
              <a:t>, Customer A has leveraged the new member bonus to lead with </a:t>
            </a:r>
            <a:r>
              <a:rPr lang="en" sz="1100" b="1">
                <a:solidFill>
                  <a:schemeClr val="dk1"/>
                </a:solidFill>
              </a:rPr>
              <a:t>1,370 points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chemeClr val="dk1"/>
                </a:solidFill>
              </a:rPr>
              <a:t>Early Success:</a:t>
            </a:r>
            <a:r>
              <a:rPr lang="en" sz="1100">
                <a:solidFill>
                  <a:schemeClr val="dk1"/>
                </a:solidFill>
              </a:rPr>
              <a:t> The double-point promotion in the first week of membership was the primary driver for the high engagement levels seen in </a:t>
            </a:r>
            <a:r>
              <a:rPr lang="en" sz="1100" b="1">
                <a:solidFill>
                  <a:schemeClr val="dk1"/>
                </a:solidFill>
              </a:rPr>
              <a:t>January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</a:rPr>
              <a:t>Next Steps:</a:t>
            </a:r>
            <a:r>
              <a:rPr lang="en" sz="1100">
                <a:solidFill>
                  <a:schemeClr val="dk1"/>
                </a:solidFill>
              </a:rPr>
              <a:t> We should monitor if this momentum continues into February or if customers only "hunt" for points during the initial promo period.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221" name="Google Shape;22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0600" y="631800"/>
            <a:ext cx="5811000" cy="3263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Conclusions &amp; Recommendations</a:t>
            </a:r>
            <a:endParaRPr/>
          </a:p>
        </p:txBody>
      </p:sp>
      <p:sp>
        <p:nvSpPr>
          <p:cNvPr id="227" name="Google Shape;227;p3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228" name="Google Shape;228;p35"/>
          <p:cNvSpPr/>
          <p:nvPr/>
        </p:nvSpPr>
        <p:spPr>
          <a:xfrm>
            <a:off x="311700" y="1225225"/>
            <a:ext cx="6982500" cy="7035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                   </a:t>
            </a:r>
            <a:r>
              <a:rPr lang="en" sz="1700" b="1" i="1" u="sng"/>
              <a:t>YES: WE SHOULD EXPAND THE LOYALTY PROGRAM</a:t>
            </a:r>
            <a:endParaRPr sz="1700" b="1" i="1" u="sng"/>
          </a:p>
        </p:txBody>
      </p:sp>
      <p:pic>
        <p:nvPicPr>
          <p:cNvPr id="229" name="Google Shape;229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850" y="1323650"/>
            <a:ext cx="539000" cy="50665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35"/>
          <p:cNvSpPr/>
          <p:nvPr/>
        </p:nvSpPr>
        <p:spPr>
          <a:xfrm>
            <a:off x="402475" y="2006575"/>
            <a:ext cx="2515200" cy="2486100"/>
          </a:xfrm>
          <a:prstGeom prst="roundRect">
            <a:avLst>
              <a:gd name="adj" fmla="val 16667"/>
            </a:avLst>
          </a:prstGeom>
          <a:solidFill>
            <a:srgbClr val="B7B7B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chemeClr val="dk1"/>
              </a:solidFill>
              <a:highlight>
                <a:srgbClr val="B7B7B7"/>
              </a:highlight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1">
                <a:solidFill>
                  <a:schemeClr val="dk1"/>
                </a:solidFill>
                <a:highlight>
                  <a:srgbClr val="B7B7B7"/>
                </a:highlight>
                <a:latin typeface="Merriweather"/>
                <a:ea typeface="Merriweather"/>
                <a:cs typeface="Merriweather"/>
                <a:sym typeface="Merriweather"/>
              </a:rPr>
              <a:t>Menu Optimization</a:t>
            </a:r>
            <a:endParaRPr sz="900" b="1">
              <a:solidFill>
                <a:schemeClr val="dk1"/>
              </a:solidFill>
              <a:highlight>
                <a:srgbClr val="B7B7B7"/>
              </a:highlight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B7B7B7"/>
                </a:highlight>
              </a:rPr>
              <a:t>Leveraging customer behavior to drive conversion:</a:t>
            </a:r>
            <a:endParaRPr sz="900">
              <a:solidFill>
                <a:schemeClr val="dk1"/>
              </a:solidFill>
              <a:highlight>
                <a:srgbClr val="B7B7B7"/>
              </a:highlight>
            </a:endParaRPr>
          </a:p>
          <a:p>
            <a:pPr marL="457200" lvl="0" indent="-28575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900"/>
              <a:buChar char="-"/>
            </a:pPr>
            <a:r>
              <a:rPr lang="en" sz="900" b="1">
                <a:solidFill>
                  <a:schemeClr val="dk1"/>
                </a:solidFill>
                <a:highlight>
                  <a:srgbClr val="B7B7B7"/>
                </a:highlight>
              </a:rPr>
              <a:t>Acquisition (Curry):</a:t>
            </a:r>
            <a:r>
              <a:rPr lang="en" sz="900">
                <a:solidFill>
                  <a:schemeClr val="dk1"/>
                </a:solidFill>
                <a:highlight>
                  <a:srgbClr val="B7B7B7"/>
                </a:highlight>
              </a:rPr>
              <a:t> The primary "hook" for new customers.</a:t>
            </a:r>
            <a:endParaRPr sz="900">
              <a:solidFill>
                <a:schemeClr val="dk1"/>
              </a:solidFill>
              <a:highlight>
                <a:srgbClr val="B7B7B7"/>
              </a:highlight>
            </a:endParaRPr>
          </a:p>
          <a:p>
            <a:pPr marL="45720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-"/>
            </a:pPr>
            <a:r>
              <a:rPr lang="en" sz="900" b="1">
                <a:solidFill>
                  <a:schemeClr val="dk1"/>
                </a:solidFill>
                <a:highlight>
                  <a:srgbClr val="B7B7B7"/>
                </a:highlight>
              </a:rPr>
              <a:t>Retention (Ramen):</a:t>
            </a:r>
            <a:r>
              <a:rPr lang="en" sz="900">
                <a:solidFill>
                  <a:schemeClr val="dk1"/>
                </a:solidFill>
                <a:highlight>
                  <a:srgbClr val="B7B7B7"/>
                </a:highlight>
              </a:rPr>
              <a:t> The core signature dish (50%+ of total volume).</a:t>
            </a:r>
            <a:endParaRPr sz="900">
              <a:solidFill>
                <a:schemeClr val="dk1"/>
              </a:solidFill>
              <a:highlight>
                <a:srgbClr val="B7B7B7"/>
              </a:highlight>
            </a:endParaRPr>
          </a:p>
          <a:p>
            <a:pPr marL="45720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-"/>
            </a:pPr>
            <a:r>
              <a:rPr lang="en" sz="900" b="1">
                <a:solidFill>
                  <a:schemeClr val="dk1"/>
                </a:solidFill>
                <a:highlight>
                  <a:srgbClr val="B7B7B7"/>
                </a:highlight>
              </a:rPr>
              <a:t>Profitability (Sushi):</a:t>
            </a:r>
            <a:r>
              <a:rPr lang="en" sz="900">
                <a:solidFill>
                  <a:schemeClr val="dk1"/>
                </a:solidFill>
                <a:highlight>
                  <a:srgbClr val="B7B7B7"/>
                </a:highlight>
              </a:rPr>
              <a:t> Drives premium spending via the 2x point multiplier.</a:t>
            </a:r>
            <a:endParaRPr sz="900">
              <a:solidFill>
                <a:schemeClr val="dk1"/>
              </a:solidFill>
              <a:highlight>
                <a:srgbClr val="B7B7B7"/>
              </a:highlight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sz="1000"/>
          </a:p>
        </p:txBody>
      </p:sp>
      <p:sp>
        <p:nvSpPr>
          <p:cNvPr id="231" name="Google Shape;231;p35"/>
          <p:cNvSpPr/>
          <p:nvPr/>
        </p:nvSpPr>
        <p:spPr>
          <a:xfrm>
            <a:off x="3040900" y="2006725"/>
            <a:ext cx="2648400" cy="2486100"/>
          </a:xfrm>
          <a:prstGeom prst="roundRect">
            <a:avLst>
              <a:gd name="adj" fmla="val 16667"/>
            </a:avLst>
          </a:prstGeom>
          <a:solidFill>
            <a:srgbClr val="B7B7B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110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chemeClr val="dk1"/>
                </a:solidFill>
                <a:highlight>
                  <a:srgbClr val="B7B7B7"/>
                </a:highlight>
                <a:latin typeface="Merriweather"/>
                <a:ea typeface="Merriweather"/>
                <a:cs typeface="Merriweather"/>
                <a:sym typeface="Merriweather"/>
              </a:rPr>
              <a:t>Member Performance</a:t>
            </a:r>
            <a:endParaRPr sz="900" b="1">
              <a:solidFill>
                <a:schemeClr val="dk1"/>
              </a:solidFill>
              <a:highlight>
                <a:srgbClr val="B7B7B7"/>
              </a:highlight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spcBef>
                <a:spcPts val="11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rgbClr val="B7B7B7"/>
                </a:highlight>
                <a:latin typeface="Merriweather"/>
                <a:ea typeface="Merriweather"/>
                <a:cs typeface="Merriweather"/>
                <a:sym typeface="Merriweather"/>
              </a:rPr>
              <a:t>Analyzing the impact of the loyalty system:</a:t>
            </a:r>
            <a:endParaRPr sz="900">
              <a:solidFill>
                <a:schemeClr val="dk1"/>
              </a:solidFill>
              <a:highlight>
                <a:srgbClr val="B7B7B7"/>
              </a:highlight>
              <a:latin typeface="Merriweather"/>
              <a:ea typeface="Merriweather"/>
              <a:cs typeface="Merriweather"/>
              <a:sym typeface="Merriweather"/>
            </a:endParaRPr>
          </a:p>
          <a:p>
            <a:pPr marL="457200" lvl="0" indent="-285750" algn="l" rtl="0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900"/>
              <a:buChar char="-"/>
            </a:pPr>
            <a:r>
              <a:rPr lang="en" sz="900" b="1">
                <a:solidFill>
                  <a:schemeClr val="dk1"/>
                </a:solidFill>
                <a:highlight>
                  <a:srgbClr val="B7B7B7"/>
                </a:highlight>
                <a:latin typeface="Merriweather"/>
                <a:ea typeface="Merriweather"/>
                <a:cs typeface="Merriweather"/>
                <a:sym typeface="Merriweather"/>
              </a:rPr>
              <a:t>Spending Lift: </a:t>
            </a:r>
            <a:r>
              <a:rPr lang="en" sz="900">
                <a:solidFill>
                  <a:schemeClr val="dk1"/>
                </a:solidFill>
                <a:highlight>
                  <a:srgbClr val="B7B7B7"/>
                </a:highlight>
                <a:latin typeface="Merriweather"/>
                <a:ea typeface="Merriweather"/>
                <a:cs typeface="Merriweather"/>
                <a:sym typeface="Merriweather"/>
              </a:rPr>
              <a:t>Average transaction value rose from $65 to $70 post-membership.</a:t>
            </a:r>
            <a:endParaRPr sz="900">
              <a:solidFill>
                <a:schemeClr val="dk1"/>
              </a:solidFill>
              <a:highlight>
                <a:srgbClr val="B7B7B7"/>
              </a:highlight>
              <a:latin typeface="Merriweather"/>
              <a:ea typeface="Merriweather"/>
              <a:cs typeface="Merriweather"/>
              <a:sym typeface="Merriweather"/>
            </a:endParaRPr>
          </a:p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-"/>
            </a:pPr>
            <a:r>
              <a:rPr lang="en" sz="900" b="1">
                <a:solidFill>
                  <a:schemeClr val="dk1"/>
                </a:solidFill>
                <a:highlight>
                  <a:srgbClr val="B7B7B7"/>
                </a:highlight>
                <a:latin typeface="Merriweather"/>
                <a:ea typeface="Merriweather"/>
                <a:cs typeface="Merriweather"/>
                <a:sym typeface="Merriweather"/>
              </a:rPr>
              <a:t>Engagement: </a:t>
            </a:r>
            <a:r>
              <a:rPr lang="en" sz="900">
                <a:solidFill>
                  <a:schemeClr val="dk1"/>
                </a:solidFill>
                <a:highlight>
                  <a:srgbClr val="B7B7B7"/>
                </a:highlight>
                <a:latin typeface="Merriweather"/>
                <a:ea typeface="Merriweather"/>
                <a:cs typeface="Merriweather"/>
                <a:sym typeface="Merriweather"/>
              </a:rPr>
              <a:t>The "First Week 2x Bonus" significantly increased visit frequency.</a:t>
            </a:r>
            <a:endParaRPr sz="900">
              <a:solidFill>
                <a:schemeClr val="dk1"/>
              </a:solidFill>
              <a:highlight>
                <a:srgbClr val="B7B7B7"/>
              </a:highlight>
              <a:latin typeface="Merriweather"/>
              <a:ea typeface="Merriweather"/>
              <a:cs typeface="Merriweather"/>
              <a:sym typeface="Merriweather"/>
            </a:endParaRPr>
          </a:p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-"/>
            </a:pPr>
            <a:r>
              <a:rPr lang="en" sz="900" b="1">
                <a:solidFill>
                  <a:schemeClr val="dk1"/>
                </a:solidFill>
                <a:highlight>
                  <a:srgbClr val="B7B7B7"/>
                </a:highlight>
                <a:latin typeface="Merriweather"/>
                <a:ea typeface="Merriweather"/>
                <a:cs typeface="Merriweather"/>
                <a:sym typeface="Merriweather"/>
              </a:rPr>
              <a:t>Loyalty Value: </a:t>
            </a:r>
            <a:r>
              <a:rPr lang="en" sz="900">
                <a:solidFill>
                  <a:schemeClr val="dk1"/>
                </a:solidFill>
                <a:highlight>
                  <a:srgbClr val="B7B7B7"/>
                </a:highlight>
                <a:latin typeface="Merriweather"/>
                <a:ea typeface="Merriweather"/>
                <a:cs typeface="Merriweather"/>
                <a:sym typeface="Merriweather"/>
              </a:rPr>
              <a:t>Customers A &amp; B represent 80% of identified total revenue.</a:t>
            </a:r>
            <a:endParaRPr sz="900">
              <a:solidFill>
                <a:schemeClr val="dk1"/>
              </a:solidFill>
              <a:highlight>
                <a:srgbClr val="B7B7B7"/>
              </a:highlight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32" name="Google Shape;232;p35"/>
          <p:cNvSpPr/>
          <p:nvPr/>
        </p:nvSpPr>
        <p:spPr>
          <a:xfrm>
            <a:off x="5883175" y="2006725"/>
            <a:ext cx="2821800" cy="2486100"/>
          </a:xfrm>
          <a:prstGeom prst="roundRect">
            <a:avLst>
              <a:gd name="adj" fmla="val 16667"/>
            </a:avLst>
          </a:prstGeom>
          <a:solidFill>
            <a:srgbClr val="B7B7B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chemeClr val="dk1"/>
              </a:solidFill>
              <a:highlight>
                <a:srgbClr val="B7B7B7"/>
              </a:highlight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chemeClr val="dk1"/>
                </a:solidFill>
                <a:highlight>
                  <a:srgbClr val="B7B7B7"/>
                </a:highlight>
                <a:latin typeface="Merriweather"/>
                <a:ea typeface="Merriweather"/>
                <a:cs typeface="Merriweather"/>
                <a:sym typeface="Merriweather"/>
              </a:rPr>
              <a:t>Action Roadmap</a:t>
            </a:r>
            <a:endParaRPr sz="900" b="1">
              <a:solidFill>
                <a:schemeClr val="dk1"/>
              </a:solidFill>
              <a:highlight>
                <a:srgbClr val="B7B7B7"/>
              </a:highlight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chemeClr val="dk1"/>
              </a:solidFill>
              <a:highlight>
                <a:srgbClr val="B7B7B7"/>
              </a:highlight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rgbClr val="B7B7B7"/>
                </a:highlight>
                <a:latin typeface="Merriweather"/>
                <a:ea typeface="Merriweather"/>
                <a:cs typeface="Merriweather"/>
                <a:sym typeface="Merriweather"/>
              </a:rPr>
              <a:t>Next steps for business scaling and growth:</a:t>
            </a:r>
            <a:endParaRPr sz="900">
              <a:solidFill>
                <a:schemeClr val="dk1"/>
              </a:solidFill>
              <a:highlight>
                <a:srgbClr val="B7B7B7"/>
              </a:highlight>
              <a:latin typeface="Merriweather"/>
              <a:ea typeface="Merriweather"/>
              <a:cs typeface="Merriweather"/>
              <a:sym typeface="Merriweather"/>
            </a:endParaRPr>
          </a:p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erriweather"/>
              <a:buChar char="-"/>
            </a:pPr>
            <a:r>
              <a:rPr lang="en" sz="900" b="1">
                <a:solidFill>
                  <a:schemeClr val="dk1"/>
                </a:solidFill>
                <a:highlight>
                  <a:srgbClr val="B7B7B7"/>
                </a:highlight>
                <a:latin typeface="Merriweather"/>
                <a:ea typeface="Merriweather"/>
                <a:cs typeface="Merriweather"/>
                <a:sym typeface="Merriweather"/>
              </a:rPr>
              <a:t>Segmented Marketing: </a:t>
            </a:r>
            <a:r>
              <a:rPr lang="en" sz="900">
                <a:solidFill>
                  <a:schemeClr val="dk1"/>
                </a:solidFill>
                <a:highlight>
                  <a:srgbClr val="B7B7B7"/>
                </a:highlight>
                <a:latin typeface="Merriweather"/>
                <a:ea typeface="Merriweather"/>
                <a:cs typeface="Merriweather"/>
                <a:sym typeface="Merriweather"/>
              </a:rPr>
              <a:t>Use Curry for ads; customize rewards for high-spenders vs. frequent visitors.</a:t>
            </a:r>
            <a:endParaRPr sz="900">
              <a:solidFill>
                <a:schemeClr val="dk1"/>
              </a:solidFill>
              <a:highlight>
                <a:srgbClr val="B7B7B7"/>
              </a:highlight>
              <a:latin typeface="Merriweather"/>
              <a:ea typeface="Merriweather"/>
              <a:cs typeface="Merriweather"/>
              <a:sym typeface="Merriweather"/>
            </a:endParaRPr>
          </a:p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erriweather"/>
              <a:buChar char="-"/>
            </a:pPr>
            <a:r>
              <a:rPr lang="en" sz="900" b="1">
                <a:solidFill>
                  <a:schemeClr val="dk1"/>
                </a:solidFill>
                <a:highlight>
                  <a:srgbClr val="B7B7B7"/>
                </a:highlight>
                <a:latin typeface="Merriweather"/>
                <a:ea typeface="Merriweather"/>
                <a:cs typeface="Merriweather"/>
                <a:sym typeface="Merriweather"/>
              </a:rPr>
              <a:t>Loyalty Scaling: </a:t>
            </a:r>
            <a:r>
              <a:rPr lang="en" sz="900">
                <a:solidFill>
                  <a:schemeClr val="dk1"/>
                </a:solidFill>
                <a:highlight>
                  <a:srgbClr val="B7B7B7"/>
                </a:highlight>
                <a:latin typeface="Merriweather"/>
                <a:ea typeface="Merriweather"/>
                <a:cs typeface="Merriweather"/>
                <a:sym typeface="Merriweather"/>
              </a:rPr>
              <a:t>Expand the membership program to drive both new acquisition and repeat visits.</a:t>
            </a:r>
            <a:endParaRPr sz="900">
              <a:solidFill>
                <a:schemeClr val="dk1"/>
              </a:solidFill>
              <a:highlight>
                <a:srgbClr val="B7B7B7"/>
              </a:highlight>
              <a:latin typeface="Merriweather"/>
              <a:ea typeface="Merriweather"/>
              <a:cs typeface="Merriweather"/>
              <a:sym typeface="Merriweather"/>
            </a:endParaRPr>
          </a:p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erriweather"/>
              <a:buChar char="-"/>
            </a:pPr>
            <a:r>
              <a:rPr lang="en" sz="900" b="1">
                <a:solidFill>
                  <a:schemeClr val="dk1"/>
                </a:solidFill>
                <a:highlight>
                  <a:srgbClr val="B7B7B7"/>
                </a:highlight>
                <a:latin typeface="Merriweather"/>
                <a:ea typeface="Merriweather"/>
                <a:cs typeface="Merriweather"/>
                <a:sym typeface="Merriweather"/>
              </a:rPr>
              <a:t>Sustainability Audit: </a:t>
            </a:r>
            <a:r>
              <a:rPr lang="en" sz="900">
                <a:solidFill>
                  <a:schemeClr val="dk1"/>
                </a:solidFill>
                <a:highlight>
                  <a:srgbClr val="B7B7B7"/>
                </a:highlight>
                <a:latin typeface="Merriweather"/>
                <a:ea typeface="Merriweather"/>
                <a:cs typeface="Merriweather"/>
                <a:sym typeface="Merriweather"/>
              </a:rPr>
              <a:t>Monitor February data to ensure long-term engagement beyond the initial promo period.</a:t>
            </a:r>
            <a:endParaRPr sz="900">
              <a:solidFill>
                <a:schemeClr val="dk1"/>
              </a:solidFill>
              <a:highlight>
                <a:srgbClr val="B7B7B7"/>
              </a:highlight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6"/>
          <p:cNvSpPr txBox="1">
            <a:spLocks noGrp="1"/>
          </p:cNvSpPr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For Listening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1826</Words>
  <Application>Microsoft Macintosh PowerPoint</Application>
  <PresentationFormat>On-screen Show (16:9)</PresentationFormat>
  <Paragraphs>193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Times New Roman</vt:lpstr>
      <vt:lpstr>Courier New</vt:lpstr>
      <vt:lpstr>Open Sans</vt:lpstr>
      <vt:lpstr>Economica</vt:lpstr>
      <vt:lpstr>Merriweather</vt:lpstr>
      <vt:lpstr>Luxe</vt:lpstr>
      <vt:lpstr>DANNY DINNER</vt:lpstr>
      <vt:lpstr>INTRODUCTION</vt:lpstr>
      <vt:lpstr>PROBLEM STATEMENT</vt:lpstr>
      <vt:lpstr>About Dataset</vt:lpstr>
      <vt:lpstr>SALE PERFORMANCE</vt:lpstr>
      <vt:lpstr>Q1, Q2:  What is the total amount each customer spent at the restaurant? and How many days has each customer visited the restaurant? </vt:lpstr>
      <vt:lpstr>PowerPoint Presentation</vt:lpstr>
      <vt:lpstr>Q3. What was the first item from the menu purchased by each customer?</vt:lpstr>
      <vt:lpstr>Q4. What is the most purchased item on the menu and how many times was it purchased by all customers?</vt:lpstr>
      <vt:lpstr>Q5. Which item was the most popular for each customer?</vt:lpstr>
      <vt:lpstr>Key Insights   </vt:lpstr>
      <vt:lpstr>PowerPoint Presentation</vt:lpstr>
      <vt:lpstr>CUSTOMER LOYALTY BEHAVIOR</vt:lpstr>
      <vt:lpstr>Q6. Which item was purchased first by the customer after they became a member?</vt:lpstr>
      <vt:lpstr>Q7. Which item was purchased just before the customer became a member?</vt:lpstr>
      <vt:lpstr>Q8. What is the total items and amount spent for each member before they became a member?</vt:lpstr>
      <vt:lpstr>PowerPoint Presentation</vt:lpstr>
      <vt:lpstr>REWARDS &amp; POINTS</vt:lpstr>
      <vt:lpstr>Q9. If each $1 spent equates to 10 points and sushi has a 2x points multiplier - how many points would each customer have?</vt:lpstr>
      <vt:lpstr>Q10. In the first week after a customer joins the program (including their join date) they earn 2x points on all items, not just sushi - how many points do customer A and B have at the end of January?</vt:lpstr>
      <vt:lpstr>PowerPoint Presentation</vt:lpstr>
      <vt:lpstr>PowerPoint Presentation</vt:lpstr>
      <vt:lpstr>Conclusions &amp; Recommendations</vt:lpstr>
      <vt:lpstr>Thank For Listening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Nguyễn Bá Thiện</cp:lastModifiedBy>
  <cp:revision>1</cp:revision>
  <dcterms:modified xsi:type="dcterms:W3CDTF">2026-06-27T13:24:28Z</dcterms:modified>
</cp:coreProperties>
</file>